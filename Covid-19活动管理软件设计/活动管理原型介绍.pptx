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PT Sans Narrow"/>
      <p:regular r:id="rId25"/>
      <p:bold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379E15-DF85-4AD0-A4A7-419AE815D17F}">
  <a:tblStyle styleId="{BF379E15-DF85-4AD0-A4A7-419AE815D17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TSansNarrow-bold.fntdata"/><Relationship Id="rId25" Type="http://schemas.openxmlformats.org/officeDocument/2006/relationships/font" Target="fonts/PTSansNarrow-regular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Open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f9676fe4d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f9676fe4d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f9676fe4dd_0_1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f9676fe4dd_0_1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9676fe4dd_0_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f9676fe4dd_0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f9676fe4dd_0_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f9676fe4dd_0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f9676fe4dd_0_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f9676fe4dd_0_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f967773c6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f967773c6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f967773c6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f967773c6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f967773c6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f967773c6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f967773c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f967773c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f967773c6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f967773c6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f967773c6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f967773c6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f967773c60_3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f967773c60_3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67773c60_3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67773c60_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f9676fe4dd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f9676fe4dd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slide" Target="/ppt/slides/slide9.xml"/><Relationship Id="rId5" Type="http://schemas.openxmlformats.org/officeDocument/2006/relationships/slide" Target="/ppt/slides/slide9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slide" Target="/ppt/slides/slide9.xml"/><Relationship Id="rId5" Type="http://schemas.openxmlformats.org/officeDocument/2006/relationships/slide" Target="/ppt/slides/slide9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slide" Target="/ppt/slides/slide9.xml"/><Relationship Id="rId5" Type="http://schemas.openxmlformats.org/officeDocument/2006/relationships/slide" Target="/ppt/slides/slide9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slide" Target="/ppt/slides/slide9.xml"/><Relationship Id="rId5" Type="http://schemas.openxmlformats.org/officeDocument/2006/relationships/slide" Target="/ppt/slides/slide9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549339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Prototype Presentation</a:t>
            </a:r>
            <a:endParaRPr/>
          </a:p>
        </p:txBody>
      </p:sp>
      <p:graphicFrame>
        <p:nvGraphicFramePr>
          <p:cNvPr id="67" name="Google Shape;67;p13"/>
          <p:cNvGraphicFramePr/>
          <p:nvPr/>
        </p:nvGraphicFramePr>
        <p:xfrm>
          <a:off x="2136375" y="267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{BF379E15-DF85-4AD0-A4A7-419AE815D17F}</a:tableStyleId>
              </a:tblPr>
              <a:tblGrid>
                <a:gridCol w="2436125"/>
                <a:gridCol w="2436125"/>
              </a:tblGrid>
              <a:tr h="2469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zh-CN" sz="900"/>
                        <a:t> FIT5152 - Group J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 hMerge="1"/>
              </a:tr>
              <a:tr h="246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/>
                        <a:t>32012578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/>
                        <a:t>Zheng Chen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6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/>
                        <a:t>30289327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/>
                        <a:t>Yi Chong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6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/>
                        <a:t>28560167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/>
                        <a:t>Yuanjia Wang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4"/>
          <p:cNvPicPr preferRelativeResize="0"/>
          <p:nvPr/>
        </p:nvPicPr>
        <p:blipFill rotWithShape="1">
          <a:blip r:embed="rId3">
            <a:alphaModFix/>
          </a:blip>
          <a:srcRect b="0" l="0" r="16666" t="0"/>
          <a:stretch/>
        </p:blipFill>
        <p:spPr>
          <a:xfrm>
            <a:off x="-375300" y="218125"/>
            <a:ext cx="7245424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>
            <p:ph idx="4294967295" type="ctrTitle"/>
          </p:nvPr>
        </p:nvSpPr>
        <p:spPr>
          <a:xfrm>
            <a:off x="152400" y="152389"/>
            <a:ext cx="7136700" cy="1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Prototype Structure</a:t>
            </a:r>
            <a:endParaRPr/>
          </a:p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id="76" name="Google Shape;76;p14"/>
          <p:cNvPicPr preferRelativeResize="0"/>
          <p:nvPr/>
        </p:nvPicPr>
        <p:blipFill rotWithShape="1">
          <a:blip r:embed="rId4">
            <a:alphaModFix/>
          </a:blip>
          <a:srcRect b="1726" l="5090" r="4485" t="8328"/>
          <a:stretch/>
        </p:blipFill>
        <p:spPr>
          <a:xfrm>
            <a:off x="6223450" y="395663"/>
            <a:ext cx="2023674" cy="4352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645150" y="1419250"/>
            <a:ext cx="39825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CN"/>
              <a:t>Norman's principle of the Conceptual model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zh-CN"/>
              <a:t>Norman's principle of Feedback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zh-CN"/>
              <a:t>Norman's principle of Mappings</a:t>
            </a:r>
            <a:endParaRPr/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6585" y="377900"/>
            <a:ext cx="2023200" cy="4352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84" name="Google Shape;84;p15"/>
          <p:cNvSpPr txBox="1"/>
          <p:nvPr>
            <p:ph type="title"/>
          </p:nvPr>
        </p:nvSpPr>
        <p:spPr>
          <a:xfrm>
            <a:off x="311700" y="117875"/>
            <a:ext cx="5211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/>
              <a:t>Calendar</a:t>
            </a:r>
            <a:r>
              <a:rPr lang="zh-CN" sz="3600"/>
              <a:t> Home Page</a:t>
            </a:r>
            <a:endParaRPr sz="3600"/>
          </a:p>
        </p:txBody>
      </p:sp>
      <p:cxnSp>
        <p:nvCxnSpPr>
          <p:cNvPr id="85" name="Google Shape;85;p15"/>
          <p:cNvCxnSpPr/>
          <p:nvPr/>
        </p:nvCxnSpPr>
        <p:spPr>
          <a:xfrm rot="10800000">
            <a:off x="3560675" y="2715775"/>
            <a:ext cx="2608200" cy="160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5"/>
          <p:cNvCxnSpPr/>
          <p:nvPr/>
        </p:nvCxnSpPr>
        <p:spPr>
          <a:xfrm rot="10800000">
            <a:off x="3560675" y="3901325"/>
            <a:ext cx="2534100" cy="45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" name="Google Shape;87;p15"/>
          <p:cNvCxnSpPr/>
          <p:nvPr/>
        </p:nvCxnSpPr>
        <p:spPr>
          <a:xfrm rot="10800000">
            <a:off x="4420050" y="1604450"/>
            <a:ext cx="1437600" cy="5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" name="Google Shape;88;p15"/>
          <p:cNvSpPr/>
          <p:nvPr/>
        </p:nvSpPr>
        <p:spPr>
          <a:xfrm>
            <a:off x="7021050" y="3382675"/>
            <a:ext cx="659400" cy="274200"/>
          </a:xfrm>
          <a:prstGeom prst="flowChartConnecto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440900" y="2938275"/>
            <a:ext cx="47721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CN"/>
              <a:t>Shneiderman's Golden Rules for Strive for consistency</a:t>
            </a:r>
            <a:endParaRPr sz="1400" u="sng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7550" y="448800"/>
            <a:ext cx="2023201" cy="4352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96" name="Google Shape;96;p16"/>
          <p:cNvSpPr txBox="1"/>
          <p:nvPr>
            <p:ph type="title"/>
          </p:nvPr>
        </p:nvSpPr>
        <p:spPr>
          <a:xfrm>
            <a:off x="311700" y="117875"/>
            <a:ext cx="5211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/>
              <a:t>To Do List</a:t>
            </a:r>
            <a:r>
              <a:rPr lang="zh-CN" sz="3600"/>
              <a:t> Page</a:t>
            </a:r>
            <a:endParaRPr sz="3600"/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2375" y="1190600"/>
            <a:ext cx="2903150" cy="15780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98" name="Google Shape;98;p16"/>
          <p:cNvCxnSpPr/>
          <p:nvPr/>
        </p:nvCxnSpPr>
        <p:spPr>
          <a:xfrm>
            <a:off x="2126675" y="2174850"/>
            <a:ext cx="429900" cy="10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6"/>
          <p:cNvCxnSpPr/>
          <p:nvPr/>
        </p:nvCxnSpPr>
        <p:spPr>
          <a:xfrm rot="10800000">
            <a:off x="4494200" y="3501375"/>
            <a:ext cx="2878800" cy="75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" name="Google Shape;100;p16"/>
          <p:cNvSpPr/>
          <p:nvPr/>
        </p:nvSpPr>
        <p:spPr>
          <a:xfrm>
            <a:off x="7124800" y="4145950"/>
            <a:ext cx="659400" cy="274200"/>
          </a:xfrm>
          <a:prstGeom prst="flowChartConnecto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311700" y="1389600"/>
            <a:ext cx="4486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CN"/>
              <a:t>Norman's principle of Conceptual model constraints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WCAG principles</a:t>
            </a:r>
            <a:endParaRPr sz="14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CN"/>
              <a:t>Guideline 1.4  Distinguishable</a:t>
            </a:r>
            <a:endParaRPr/>
          </a:p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CN"/>
              <a:t>Perceivable</a:t>
            </a:r>
            <a:endParaRPr/>
          </a:p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CN"/>
              <a:t>guideline 3.2 Predictable</a:t>
            </a:r>
            <a:endParaRPr/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9425" y="395550"/>
            <a:ext cx="2023201" cy="4352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08" name="Google Shape;108;p17"/>
          <p:cNvSpPr txBox="1"/>
          <p:nvPr>
            <p:ph type="title"/>
          </p:nvPr>
        </p:nvSpPr>
        <p:spPr>
          <a:xfrm>
            <a:off x="311700" y="117875"/>
            <a:ext cx="5211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/>
              <a:t>Create</a:t>
            </a:r>
            <a:r>
              <a:rPr lang="zh-CN" sz="3600"/>
              <a:t> Activity Page</a:t>
            </a:r>
            <a:endParaRPr sz="3600"/>
          </a:p>
        </p:txBody>
      </p:sp>
      <p:sp>
        <p:nvSpPr>
          <p:cNvPr id="109" name="Google Shape;109;p17"/>
          <p:cNvSpPr/>
          <p:nvPr/>
        </p:nvSpPr>
        <p:spPr>
          <a:xfrm>
            <a:off x="6769100" y="3656850"/>
            <a:ext cx="659400" cy="274200"/>
          </a:xfrm>
          <a:prstGeom prst="flowChartConnector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0" name="Google Shape;110;p17"/>
          <p:cNvCxnSpPr/>
          <p:nvPr/>
        </p:nvCxnSpPr>
        <p:spPr>
          <a:xfrm rot="10800000">
            <a:off x="4664550" y="1589600"/>
            <a:ext cx="2601000" cy="25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" name="Google Shape;111;p17"/>
          <p:cNvCxnSpPr/>
          <p:nvPr/>
        </p:nvCxnSpPr>
        <p:spPr>
          <a:xfrm rot="10800000">
            <a:off x="4472075" y="1737825"/>
            <a:ext cx="1326300" cy="107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p17"/>
          <p:cNvCxnSpPr/>
          <p:nvPr/>
        </p:nvCxnSpPr>
        <p:spPr>
          <a:xfrm rot="10800000">
            <a:off x="4635075" y="1700375"/>
            <a:ext cx="1178100" cy="63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311700" y="117875"/>
            <a:ext cx="5211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/>
              <a:t>Profile Home Page</a:t>
            </a:r>
            <a:endParaRPr sz="3600"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311700" y="138315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CN"/>
              <a:t>Bottom Navigation Bars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Benefit: Q</a:t>
            </a:r>
            <a:r>
              <a:rPr lang="zh-CN"/>
              <a:t>uickly switch between different sections of an app 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zh-CN"/>
              <a:t>WACG Priciple - Understandable 3.3.5 Help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CN"/>
              <a:t>Guidelines for Menu Design - Meaningful grouping of items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Importance and relevance of item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0525" y="272200"/>
            <a:ext cx="2023200" cy="43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/>
          <p:nvPr/>
        </p:nvSpPr>
        <p:spPr>
          <a:xfrm>
            <a:off x="5750525" y="4252000"/>
            <a:ext cx="1928700" cy="341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7368500" y="484825"/>
            <a:ext cx="368700" cy="341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CN"/>
              <a:t>Norman’s 7 Principles - </a:t>
            </a:r>
            <a:r>
              <a:rPr lang="zh-CN"/>
              <a:t>Feedback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Benfit: T</a:t>
            </a:r>
            <a:r>
              <a:rPr lang="zh-CN"/>
              <a:t>ells uers what is happening or/and what happened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zh-CN"/>
              <a:t>8 Golden Rules -Prevent Errors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CN"/>
              <a:t> </a:t>
            </a:r>
            <a:r>
              <a:rPr lang="zh-CN"/>
              <a:t>8 Golden Rules - </a:t>
            </a:r>
            <a:r>
              <a:rPr lang="zh-CN"/>
              <a:t>Seek Universal Usability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/>
              <a:t>Improvment: Voice for information input</a:t>
            </a:r>
            <a:endParaRPr/>
          </a:p>
        </p:txBody>
      </p:sp>
      <p:sp>
        <p:nvSpPr>
          <p:cNvPr id="128" name="Google Shape;12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6925" y="216600"/>
            <a:ext cx="2023200" cy="43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/>
          <p:cNvSpPr txBox="1"/>
          <p:nvPr>
            <p:ph type="title"/>
          </p:nvPr>
        </p:nvSpPr>
        <p:spPr>
          <a:xfrm>
            <a:off x="311700" y="117875"/>
            <a:ext cx="5211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/>
              <a:t>Profile Setting Page</a:t>
            </a:r>
            <a:endParaRPr sz="3600"/>
          </a:p>
        </p:txBody>
      </p:sp>
      <p:sp>
        <p:nvSpPr>
          <p:cNvPr id="131" name="Google Shape;131;p19"/>
          <p:cNvSpPr/>
          <p:nvPr/>
        </p:nvSpPr>
        <p:spPr>
          <a:xfrm>
            <a:off x="7260850" y="3543875"/>
            <a:ext cx="482700" cy="186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9"/>
          <p:cNvSpPr/>
          <p:nvPr/>
        </p:nvSpPr>
        <p:spPr>
          <a:xfrm>
            <a:off x="5756925" y="1577225"/>
            <a:ext cx="847200" cy="341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6893925" y="3799275"/>
            <a:ext cx="804000" cy="186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CN"/>
              <a:t>8 Golden Rules -</a:t>
            </a:r>
            <a:r>
              <a:rPr lang="zh-CN"/>
              <a:t>Permit Easy Reversal of Actions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Benefit: be able to quickly backtrack whatever they are doing</a:t>
            </a:r>
            <a:r>
              <a:rPr lang="zh-CN">
                <a:solidFill>
                  <a:srgbClr val="0A0A0A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 → </a:t>
            </a:r>
            <a:r>
              <a:rPr lang="zh-CN"/>
              <a:t>A positive user experience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zh-CN"/>
              <a:t>Colour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Red: call attention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zh-CN"/>
              <a:t>Colour theme - provides a consistent colour to an app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zh-CN"/>
              <a:t>high contrast ratio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6950" y="216600"/>
            <a:ext cx="2023200" cy="43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0"/>
          <p:cNvSpPr txBox="1"/>
          <p:nvPr>
            <p:ph type="title"/>
          </p:nvPr>
        </p:nvSpPr>
        <p:spPr>
          <a:xfrm>
            <a:off x="311700" y="117875"/>
            <a:ext cx="5211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/>
              <a:t>Preference Edit Page</a:t>
            </a:r>
            <a:endParaRPr sz="3600"/>
          </a:p>
        </p:txBody>
      </p:sp>
      <p:sp>
        <p:nvSpPr>
          <p:cNvPr id="142" name="Google Shape;142;p20"/>
          <p:cNvSpPr/>
          <p:nvPr/>
        </p:nvSpPr>
        <p:spPr>
          <a:xfrm>
            <a:off x="5756950" y="498975"/>
            <a:ext cx="482700" cy="186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0"/>
          <p:cNvSpPr/>
          <p:nvPr/>
        </p:nvSpPr>
        <p:spPr>
          <a:xfrm>
            <a:off x="5756950" y="1610550"/>
            <a:ext cx="482700" cy="186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0"/>
          <p:cNvSpPr/>
          <p:nvPr/>
        </p:nvSpPr>
        <p:spPr>
          <a:xfrm>
            <a:off x="5756950" y="2348750"/>
            <a:ext cx="482700" cy="186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id="150" name="Google Shape;150;p21"/>
          <p:cNvPicPr preferRelativeResize="0"/>
          <p:nvPr/>
        </p:nvPicPr>
        <p:blipFill rotWithShape="1">
          <a:blip r:embed="rId3">
            <a:alphaModFix/>
          </a:blip>
          <a:srcRect b="1726" l="5090" r="4485" t="8328"/>
          <a:stretch/>
        </p:blipFill>
        <p:spPr>
          <a:xfrm>
            <a:off x="5742650" y="216825"/>
            <a:ext cx="2023674" cy="435217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>
            <a:hlinkClick action="ppaction://hlinkshowjump?jump=nextslide"/>
          </p:cNvPr>
          <p:cNvSpPr/>
          <p:nvPr/>
        </p:nvSpPr>
        <p:spPr>
          <a:xfrm>
            <a:off x="5909325" y="3664800"/>
            <a:ext cx="674700" cy="767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1"/>
          <p:cNvSpPr txBox="1"/>
          <p:nvPr>
            <p:ph type="title"/>
          </p:nvPr>
        </p:nvSpPr>
        <p:spPr>
          <a:xfrm>
            <a:off x="464100" y="270275"/>
            <a:ext cx="5211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/>
              <a:t>Home Page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id="158" name="Google Shape;15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9975" y="139525"/>
            <a:ext cx="2023201" cy="43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2">
            <a:hlinkClick action="ppaction://hlinksldjump" r:id="rId4"/>
          </p:cNvPr>
          <p:cNvSpPr/>
          <p:nvPr/>
        </p:nvSpPr>
        <p:spPr>
          <a:xfrm>
            <a:off x="5759975" y="341200"/>
            <a:ext cx="261900" cy="189900"/>
          </a:xfrm>
          <a:prstGeom prst="lef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2">
            <a:hlinkClick action="ppaction://hlinksldjump" r:id="rId5"/>
          </p:cNvPr>
          <p:cNvSpPr/>
          <p:nvPr/>
        </p:nvSpPr>
        <p:spPr>
          <a:xfrm>
            <a:off x="5759975" y="4070425"/>
            <a:ext cx="379500" cy="421500"/>
          </a:xfrm>
          <a:prstGeom prst="flowChartAlternateProcess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2">
            <a:hlinkClick action="ppaction://hlinkshowjump?jump=nextslide"/>
          </p:cNvPr>
          <p:cNvSpPr/>
          <p:nvPr/>
        </p:nvSpPr>
        <p:spPr>
          <a:xfrm>
            <a:off x="6225925" y="968925"/>
            <a:ext cx="204600" cy="1899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2"/>
          <p:cNvSpPr txBox="1"/>
          <p:nvPr>
            <p:ph type="title"/>
          </p:nvPr>
        </p:nvSpPr>
        <p:spPr>
          <a:xfrm>
            <a:off x="311700" y="117875"/>
            <a:ext cx="5211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/>
              <a:t>Activity </a:t>
            </a:r>
            <a:r>
              <a:rPr lang="zh-CN" sz="3600"/>
              <a:t>Home Page</a:t>
            </a:r>
            <a:endParaRPr sz="3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8713" y="216775"/>
            <a:ext cx="2023199" cy="43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3">
            <a:hlinkClick action="ppaction://hlinksldjump" r:id="rId4"/>
          </p:cNvPr>
          <p:cNvSpPr/>
          <p:nvPr/>
        </p:nvSpPr>
        <p:spPr>
          <a:xfrm>
            <a:off x="5827275" y="422400"/>
            <a:ext cx="151800" cy="160200"/>
          </a:xfrm>
          <a:prstGeom prst="lef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3">
            <a:hlinkClick action="ppaction://hlinksldjump" r:id="rId5"/>
          </p:cNvPr>
          <p:cNvSpPr/>
          <p:nvPr/>
        </p:nvSpPr>
        <p:spPr>
          <a:xfrm>
            <a:off x="5758725" y="4147675"/>
            <a:ext cx="379500" cy="421500"/>
          </a:xfrm>
          <a:prstGeom prst="flowChartAlternateProcess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3"/>
          <p:cNvSpPr txBox="1"/>
          <p:nvPr>
            <p:ph type="title"/>
          </p:nvPr>
        </p:nvSpPr>
        <p:spPr>
          <a:xfrm>
            <a:off x="311700" y="117875"/>
            <a:ext cx="5211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/>
              <a:t>Activity Filter</a:t>
            </a:r>
            <a:r>
              <a:rPr lang="zh-CN" sz="3600"/>
              <a:t> Page</a:t>
            </a:r>
            <a:endParaRPr sz="3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id="177" name="Google Shape;17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0188" y="216600"/>
            <a:ext cx="2023200" cy="43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4">
            <a:hlinkClick action="ppaction://hlinksldjump" r:id="rId4"/>
          </p:cNvPr>
          <p:cNvSpPr/>
          <p:nvPr/>
        </p:nvSpPr>
        <p:spPr>
          <a:xfrm>
            <a:off x="5833725" y="460850"/>
            <a:ext cx="151800" cy="160200"/>
          </a:xfrm>
          <a:prstGeom prst="lef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4">
            <a:hlinkClick action="ppaction://hlinksldjump" r:id="rId5"/>
          </p:cNvPr>
          <p:cNvSpPr/>
          <p:nvPr/>
        </p:nvSpPr>
        <p:spPr>
          <a:xfrm>
            <a:off x="5770200" y="4147500"/>
            <a:ext cx="379500" cy="421500"/>
          </a:xfrm>
          <a:prstGeom prst="flowChartAlternateProcess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4"/>
          <p:cNvSpPr txBox="1"/>
          <p:nvPr>
            <p:ph type="title"/>
          </p:nvPr>
        </p:nvSpPr>
        <p:spPr>
          <a:xfrm>
            <a:off x="311700" y="117875"/>
            <a:ext cx="5211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/>
              <a:t>Activity</a:t>
            </a:r>
            <a:r>
              <a:rPr lang="zh-CN" sz="3600"/>
              <a:t> Filter Page</a:t>
            </a:r>
            <a:endParaRPr sz="3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id="186" name="Google Shape;18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1700" y="216600"/>
            <a:ext cx="2023200" cy="4352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5">
            <a:hlinkClick action="ppaction://hlinksldjump" r:id="rId4"/>
          </p:cNvPr>
          <p:cNvSpPr/>
          <p:nvPr/>
        </p:nvSpPr>
        <p:spPr>
          <a:xfrm>
            <a:off x="5814425" y="459600"/>
            <a:ext cx="151800" cy="160200"/>
          </a:xfrm>
          <a:prstGeom prst="lef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5">
            <a:hlinkClick action="ppaction://hlinksldjump" r:id="rId5"/>
          </p:cNvPr>
          <p:cNvSpPr/>
          <p:nvPr/>
        </p:nvSpPr>
        <p:spPr>
          <a:xfrm>
            <a:off x="5751700" y="4147500"/>
            <a:ext cx="379500" cy="421500"/>
          </a:xfrm>
          <a:prstGeom prst="flowChartAlternateProcess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5"/>
          <p:cNvSpPr txBox="1"/>
          <p:nvPr>
            <p:ph type="title"/>
          </p:nvPr>
        </p:nvSpPr>
        <p:spPr>
          <a:xfrm>
            <a:off x="311700" y="117875"/>
            <a:ext cx="5211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/>
              <a:t>Activity Detail</a:t>
            </a:r>
            <a:r>
              <a:rPr lang="zh-CN" sz="3600"/>
              <a:t> Page</a:t>
            </a:r>
            <a:endParaRPr sz="3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/>
          <p:nvPr>
            <p:ph type="ctrTitle"/>
          </p:nvPr>
        </p:nvSpPr>
        <p:spPr>
          <a:xfrm>
            <a:off x="1003650" y="1448139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THANKS</a:t>
            </a:r>
            <a:endParaRPr/>
          </a:p>
        </p:txBody>
      </p:sp>
      <p:graphicFrame>
        <p:nvGraphicFramePr>
          <p:cNvPr id="195" name="Google Shape;195;p26"/>
          <p:cNvGraphicFramePr/>
          <p:nvPr/>
        </p:nvGraphicFramePr>
        <p:xfrm>
          <a:off x="2136375" y="267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{BF379E15-DF85-4AD0-A4A7-419AE815D17F}</a:tableStyleId>
              </a:tblPr>
              <a:tblGrid>
                <a:gridCol w="2436125"/>
                <a:gridCol w="2436125"/>
              </a:tblGrid>
              <a:tr h="2469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zh-CN" sz="900"/>
                        <a:t> FIT5152 - Group J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 hMerge="1"/>
              </a:tr>
              <a:tr h="246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/>
                        <a:t>32012578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/>
                        <a:t>Zheng Chen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6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/>
                        <a:t>30289327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/>
                        <a:t>Yi Chong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6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/>
                        <a:t>28560167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sz="900"/>
                        <a:t>Yuanjia Wang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6" name="Google Shape;19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